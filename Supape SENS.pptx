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EA4FC-DC32-AA31-31B6-410C0B9CD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9B54E8-4FEE-12D5-8445-930F19AAB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869E4-46B9-1CAF-294A-A00E9EE4D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EF15-EB80-4151-8A66-41111576754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941FE-2112-DE41-1CEC-605C7AE3C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0FF6C-89CD-71B2-B463-06322345C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064E-0965-4063-9010-B7CA3DFCE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75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DF113-DB5A-0FF2-391A-E0BC46C75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E7070-7A96-7E5A-31ED-479B128C6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95524-BB2B-199A-34DF-C7DFA38E0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EF15-EB80-4151-8A66-41111576754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A47D5-62F9-B0E6-AC43-2E72074C2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186E2-7430-6571-4E1C-B35D6B68C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064E-0965-4063-9010-B7CA3DFCE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987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F4E5-75CF-F94A-3DE0-76EC48A1E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66F56-933E-BC89-32DB-D875414CE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A7FB4-4FA2-78FD-E3E7-FC4D79A9A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EF15-EB80-4151-8A66-41111576754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D7B49-9335-C330-2B4E-DB0BBD801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FC7F2-8F93-F2DF-40D9-D65DE376C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064E-0965-4063-9010-B7CA3DFCE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8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39413-2285-EEEE-6E9C-C2C68621E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C70B2-270C-709D-B3A5-7DFF9580C6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3A6D1-E5D6-F749-6622-D3BCB829E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C8851-DE11-8C12-5F75-B40B2C064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EF15-EB80-4151-8A66-41111576754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54A20-D642-3B6A-E615-42B996CB0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C5DEB-BC10-210C-4A75-EBF14D293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064E-0965-4063-9010-B7CA3DFCE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0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E9BDC-1DF6-F0D5-03C8-742491E5F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F45EF-1036-8AF2-639E-C98069C20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BE9B7-47C9-D5AF-2108-63F8BD4D0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41D44A-0115-3B97-6EDC-9CAB8EE4C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B4BD1A-DF5B-3B33-B76E-72B17CAE96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799A5F-A0AD-781C-02BC-CF78F1BB9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EF15-EB80-4151-8A66-41111576754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B542F5-F339-6CF9-D99E-75312647B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DEC23C-ACD2-C68C-5448-D9FEDD3AC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064E-0965-4063-9010-B7CA3DFCE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471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E9619-C44F-7CCD-C2F0-A4A22C5CB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7B2B91-E9E5-6128-342B-EE1273CC1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EF15-EB80-4151-8A66-41111576754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EDA9CE-9D1C-36EF-2DB6-4A59F1977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2469F2-735A-EF79-2617-6447D6662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064E-0965-4063-9010-B7CA3DFCE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51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F7875-4103-2056-0740-57EBEE9A8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EF15-EB80-4151-8A66-41111576754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5C9DEE-9D16-4299-2FD7-94859116C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C38D4-20A6-D17B-334B-90103E1C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064E-0965-4063-9010-B7CA3DFCE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459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60D6F-AF35-7DDD-E648-FF59E56DE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BB90F-9B0C-E140-751F-0FD26DE63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C85AF3-8EFF-6EC1-E634-07DC4DD52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ED9453-7564-905F-EF9C-6496A99E1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EF15-EB80-4151-8A66-41111576754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8BE1D-1B41-222C-2D1C-310187E3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A6CB6-7555-CCFF-F74B-D4BE6151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064E-0965-4063-9010-B7CA3DFCE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301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0B84A-6D9A-7A35-40C5-599F0B828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E59397-9737-25DA-E175-2A80784F30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22D57-AA24-061B-5428-EDAD60545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CF8F9-86BF-6957-34CE-A40FD4FF0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EF15-EB80-4151-8A66-41111576754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DFEB2-8284-6FEB-FCC9-ACC545486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A7576-7F12-EC40-E721-1655C949E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064E-0965-4063-9010-B7CA3DFCE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714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EB6DC-8757-C1BC-99EE-D5058C72A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3B65BF-9666-FDBE-91D4-EC4F46D68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D63D2-3A5D-5235-929B-C26B7DBAB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EF15-EB80-4151-8A66-41111576754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BE7D1-D04D-2ADE-EA6D-90537E365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9AFB6-6BBF-273F-E778-2F94D05D1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064E-0965-4063-9010-B7CA3DFCE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154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DD948D-5836-E80D-3409-14C4C5E31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062E13-47E6-2EAA-DC97-0C21A7FF3D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E2C1B-5912-9478-01D6-63AD0198A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EF15-EB80-4151-8A66-41111576754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DD5D2-8E8E-1C77-1AF1-403A567D5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01E35-83CF-52A4-4E2A-990BF83DF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064E-0965-4063-9010-B7CA3DFCE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71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6EA888-46EC-C002-4D61-C1F2C5AA8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9393D-0E5B-56A4-23E4-A8838122C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EB304-5D7E-EA9F-E7FC-8088F05420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8EF15-EB80-4151-8A66-41111576754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FE2DD-823F-FE3D-D9D7-B004C7A30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3A309-E158-84F8-2F14-7B7063650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02064E-0965-4063-9010-B7CA3DFCE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674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DA218A-D2AB-038F-88AC-869EB224E4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409" y="895483"/>
            <a:ext cx="5786232" cy="3011190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chemeClr val="bg1"/>
                </a:solidFill>
              </a:rPr>
              <a:t>Supape cu Sens Unic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1E11C-81C1-05F4-AF6A-ADB1F8BFA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6270" y="4142096"/>
            <a:ext cx="5338511" cy="1055142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By Prodan Dragos</a:t>
            </a: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925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DE0700-22B6-CD68-71E2-ADC12F695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n-US" sz="7400">
                <a:solidFill>
                  <a:schemeClr val="bg1"/>
                </a:solidFill>
              </a:rPr>
              <a:t>Ce Sunt Supapele cu Sens 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26869-6CF7-F8BA-0B0B-47616420C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Ftf, ce este o supapa ?</a:t>
            </a:r>
          </a:p>
          <a:p>
            <a:pPr lvl="1"/>
            <a:r>
              <a:rPr lang="en-US" sz="2000">
                <a:solidFill>
                  <a:schemeClr val="bg1"/>
                </a:solidFill>
              </a:rPr>
              <a:t>Organ de mașină montat în dreptul unui orificiu și folosit pentru întreruperea sau restabilirea circuitului unui fluid care trece prin acest orificiu - [1]</a:t>
            </a:r>
          </a:p>
          <a:p>
            <a:pPr marL="0" indent="0">
              <a:buNone/>
            </a:pPr>
            <a:endParaRPr lang="en-US" sz="200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</a:rPr>
              <a:t>Supapele cu Sens</a:t>
            </a:r>
          </a:p>
          <a:p>
            <a:pPr lvl="1"/>
            <a:r>
              <a:rPr lang="en-US" sz="2000">
                <a:solidFill>
                  <a:schemeClr val="bg1"/>
                </a:solidFill>
              </a:rPr>
              <a:t>Sunt organe de masini care permit trecerea unui fluid intr o singura directie</a:t>
            </a:r>
          </a:p>
          <a:p>
            <a:pPr marL="0" indent="0">
              <a:buNone/>
            </a:pPr>
            <a:endParaRPr lang="en-US" sz="2000">
              <a:solidFill>
                <a:schemeClr val="bg1"/>
              </a:solidFill>
            </a:endParaRPr>
          </a:p>
          <a:p>
            <a:pPr lvl="1"/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530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93E6F-047A-AB8C-5C2A-0ED70F294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n-US" sz="6800">
                <a:solidFill>
                  <a:schemeClr val="bg1"/>
                </a:solidFill>
              </a:rPr>
              <a:t>Care este Utilitatea Supapelor cu Sens ?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5E2B4-77C5-4172-6A6D-470601843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81859" cy="4571972"/>
          </a:xfrm>
        </p:spPr>
        <p:txBody>
          <a:bodyPr anchor="ctr">
            <a:normAutofit/>
          </a:bodyPr>
          <a:lstStyle/>
          <a:p>
            <a:r>
              <a:rPr lang="en-US" sz="1700" dirty="0" err="1">
                <a:solidFill>
                  <a:schemeClr val="bg1"/>
                </a:solidFill>
              </a:rPr>
              <a:t>Supapele</a:t>
            </a:r>
            <a:r>
              <a:rPr lang="en-US" sz="1700" dirty="0">
                <a:solidFill>
                  <a:schemeClr val="bg1"/>
                </a:solidFill>
              </a:rPr>
              <a:t> cu </a:t>
            </a:r>
            <a:r>
              <a:rPr lang="en-US" sz="1700" dirty="0" err="1">
                <a:solidFill>
                  <a:schemeClr val="bg1"/>
                </a:solidFill>
              </a:rPr>
              <a:t>sens</a:t>
            </a:r>
            <a:r>
              <a:rPr lang="en-US" sz="1700" dirty="0">
                <a:solidFill>
                  <a:schemeClr val="bg1"/>
                </a:solidFill>
              </a:rPr>
              <a:t>, </a:t>
            </a:r>
            <a:r>
              <a:rPr lang="en-US" sz="1700" dirty="0" err="1">
                <a:solidFill>
                  <a:schemeClr val="bg1"/>
                </a:solidFill>
              </a:rPr>
              <a:t>cunoscute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și</a:t>
            </a:r>
            <a:r>
              <a:rPr lang="en-US" sz="1700" dirty="0">
                <a:solidFill>
                  <a:schemeClr val="bg1"/>
                </a:solidFill>
              </a:rPr>
              <a:t> sub </a:t>
            </a:r>
            <a:r>
              <a:rPr lang="en-US" sz="1700" dirty="0" err="1">
                <a:solidFill>
                  <a:schemeClr val="bg1"/>
                </a:solidFill>
              </a:rPr>
              <a:t>denumirea</a:t>
            </a:r>
            <a:r>
              <a:rPr lang="en-US" sz="1700" dirty="0">
                <a:solidFill>
                  <a:schemeClr val="bg1"/>
                </a:solidFill>
              </a:rPr>
              <a:t> de </a:t>
            </a:r>
            <a:r>
              <a:rPr lang="en-US" sz="1700" b="1" dirty="0" err="1">
                <a:solidFill>
                  <a:schemeClr val="bg1"/>
                </a:solidFill>
              </a:rPr>
              <a:t>supape</a:t>
            </a:r>
            <a:r>
              <a:rPr lang="en-US" sz="1700" b="1" dirty="0">
                <a:solidFill>
                  <a:schemeClr val="bg1"/>
                </a:solidFill>
              </a:rPr>
              <a:t> de </a:t>
            </a:r>
            <a:r>
              <a:rPr lang="en-US" sz="1700" b="1" dirty="0" err="1">
                <a:solidFill>
                  <a:schemeClr val="bg1"/>
                </a:solidFill>
              </a:rPr>
              <a:t>reținere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sau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b="1" dirty="0">
                <a:solidFill>
                  <a:schemeClr val="bg1"/>
                </a:solidFill>
              </a:rPr>
              <a:t>check‑valves</a:t>
            </a:r>
            <a:r>
              <a:rPr lang="en-US" sz="1700" dirty="0">
                <a:solidFill>
                  <a:schemeClr val="bg1"/>
                </a:solidFill>
              </a:rPr>
              <a:t>, sunt </a:t>
            </a:r>
            <a:r>
              <a:rPr lang="en-US" sz="1700" dirty="0" err="1">
                <a:solidFill>
                  <a:schemeClr val="bg1"/>
                </a:solidFill>
              </a:rPr>
              <a:t>elemente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esențiale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în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sistemele</a:t>
            </a:r>
            <a:r>
              <a:rPr lang="en-US" sz="1700" dirty="0">
                <a:solidFill>
                  <a:schemeClr val="bg1"/>
                </a:solidFill>
              </a:rPr>
              <a:t> de transport de </a:t>
            </a:r>
            <a:r>
              <a:rPr lang="en-US" sz="1700" dirty="0" err="1">
                <a:solidFill>
                  <a:schemeClr val="bg1"/>
                </a:solidFill>
              </a:rPr>
              <a:t>fluide</a:t>
            </a:r>
            <a:r>
              <a:rPr lang="en-US" sz="1700" dirty="0">
                <a:solidFill>
                  <a:schemeClr val="bg1"/>
                </a:solidFill>
              </a:rPr>
              <a:t> (</a:t>
            </a:r>
            <a:r>
              <a:rPr lang="en-US" sz="1700" dirty="0" err="1">
                <a:solidFill>
                  <a:schemeClr val="bg1"/>
                </a:solidFill>
              </a:rPr>
              <a:t>lichide</a:t>
            </a:r>
            <a:r>
              <a:rPr lang="en-US" sz="1700" dirty="0">
                <a:solidFill>
                  <a:schemeClr val="bg1"/>
                </a:solidFill>
              </a:rPr>
              <a:t>, gaze, </a:t>
            </a:r>
            <a:r>
              <a:rPr lang="en-US" sz="1700" dirty="0" err="1">
                <a:solidFill>
                  <a:schemeClr val="bg1"/>
                </a:solidFill>
              </a:rPr>
              <a:t>abur</a:t>
            </a:r>
            <a:r>
              <a:rPr lang="en-US" sz="1700" dirty="0">
                <a:solidFill>
                  <a:schemeClr val="bg1"/>
                </a:solidFill>
              </a:rPr>
              <a:t>)</a:t>
            </a:r>
          </a:p>
          <a:p>
            <a:r>
              <a:rPr lang="en-US" sz="1700" dirty="0">
                <a:solidFill>
                  <a:schemeClr val="bg1"/>
                </a:solidFill>
              </a:rPr>
              <a:t>Ele </a:t>
            </a:r>
            <a:r>
              <a:rPr lang="en-US" sz="1700" dirty="0" err="1">
                <a:solidFill>
                  <a:schemeClr val="bg1"/>
                </a:solidFill>
              </a:rPr>
              <a:t>împiedica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refluxul</a:t>
            </a:r>
            <a:r>
              <a:rPr lang="en-US" sz="1700" dirty="0">
                <a:solidFill>
                  <a:schemeClr val="bg1"/>
                </a:solidFill>
              </a:rPr>
              <a:t>, </a:t>
            </a:r>
            <a:r>
              <a:rPr lang="en-US" sz="1700" dirty="0" err="1">
                <a:solidFill>
                  <a:schemeClr val="bg1"/>
                </a:solidFill>
              </a:rPr>
              <a:t>protejând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echipamentele</a:t>
            </a:r>
            <a:r>
              <a:rPr lang="en-US" sz="1700" dirty="0">
                <a:solidFill>
                  <a:schemeClr val="bg1"/>
                </a:solidFill>
              </a:rPr>
              <a:t> din aval de </a:t>
            </a:r>
            <a:r>
              <a:rPr lang="en-US" sz="1700" dirty="0" err="1">
                <a:solidFill>
                  <a:schemeClr val="bg1"/>
                </a:solidFill>
              </a:rPr>
              <a:t>deteriorări</a:t>
            </a:r>
            <a:r>
              <a:rPr lang="en-US" sz="1700" dirty="0">
                <a:solidFill>
                  <a:schemeClr val="bg1"/>
                </a:solidFill>
              </a:rPr>
              <a:t> precum:</a:t>
            </a:r>
          </a:p>
          <a:p>
            <a:pPr lvl="1"/>
            <a:r>
              <a:rPr lang="it-IT" sz="1700" b="1" dirty="0">
                <a:solidFill>
                  <a:schemeClr val="bg1"/>
                </a:solidFill>
              </a:rPr>
              <a:t>Daune mecanice</a:t>
            </a:r>
            <a:r>
              <a:rPr lang="it-IT" sz="1700" dirty="0">
                <a:solidFill>
                  <a:schemeClr val="bg1"/>
                </a:solidFill>
              </a:rPr>
              <a:t> la pompe, compresoare și turbine cauzate de inversarea fluxului</a:t>
            </a:r>
          </a:p>
          <a:p>
            <a:pPr lvl="1"/>
            <a:r>
              <a:rPr lang="en-US" sz="1700" b="1" dirty="0" err="1">
                <a:solidFill>
                  <a:schemeClr val="bg1"/>
                </a:solidFill>
              </a:rPr>
              <a:t>Contaminarea</a:t>
            </a:r>
            <a:r>
              <a:rPr lang="en-US" sz="1700" dirty="0">
                <a:solidFill>
                  <a:schemeClr val="bg1"/>
                </a:solidFill>
              </a:rPr>
              <a:t> </a:t>
            </a:r>
            <a:r>
              <a:rPr lang="en-US" sz="1700" dirty="0" err="1">
                <a:solidFill>
                  <a:schemeClr val="bg1"/>
                </a:solidFill>
              </a:rPr>
              <a:t>mediului</a:t>
            </a:r>
            <a:r>
              <a:rPr lang="en-US" sz="1700" dirty="0">
                <a:solidFill>
                  <a:schemeClr val="bg1"/>
                </a:solidFill>
              </a:rPr>
              <a:t> de </a:t>
            </a:r>
            <a:r>
              <a:rPr lang="en-US" sz="1700" dirty="0" err="1">
                <a:solidFill>
                  <a:schemeClr val="bg1"/>
                </a:solidFill>
              </a:rPr>
              <a:t>lucru</a:t>
            </a:r>
            <a:r>
              <a:rPr lang="en-US" sz="1700" dirty="0">
                <a:solidFill>
                  <a:schemeClr val="bg1"/>
                </a:solidFill>
              </a:rPr>
              <a:t> </a:t>
            </a:r>
            <a:r>
              <a:rPr lang="en-US" sz="1700" dirty="0" err="1">
                <a:solidFill>
                  <a:schemeClr val="bg1"/>
                </a:solidFill>
              </a:rPr>
              <a:t>prin</a:t>
            </a:r>
            <a:r>
              <a:rPr lang="en-US" sz="1700" dirty="0">
                <a:solidFill>
                  <a:schemeClr val="bg1"/>
                </a:solidFill>
              </a:rPr>
              <a:t> </a:t>
            </a:r>
            <a:r>
              <a:rPr lang="en-US" sz="1700" dirty="0" err="1">
                <a:solidFill>
                  <a:schemeClr val="bg1"/>
                </a:solidFill>
              </a:rPr>
              <a:t>întoar-cerea</a:t>
            </a:r>
            <a:r>
              <a:rPr lang="en-US" sz="1700" dirty="0">
                <a:solidFill>
                  <a:schemeClr val="bg1"/>
                </a:solidFill>
              </a:rPr>
              <a:t> </a:t>
            </a:r>
            <a:r>
              <a:rPr lang="en-US" sz="1700" dirty="0" err="1">
                <a:solidFill>
                  <a:schemeClr val="bg1"/>
                </a:solidFill>
              </a:rPr>
              <a:t>fluidului</a:t>
            </a:r>
            <a:r>
              <a:rPr lang="en-US" sz="1700" dirty="0">
                <a:solidFill>
                  <a:schemeClr val="bg1"/>
                </a:solidFill>
              </a:rPr>
              <a:t> </a:t>
            </a:r>
            <a:r>
              <a:rPr lang="en-US" sz="1700" dirty="0" err="1">
                <a:solidFill>
                  <a:schemeClr val="bg1"/>
                </a:solidFill>
              </a:rPr>
              <a:t>contaminat</a:t>
            </a:r>
            <a:r>
              <a:rPr lang="en-US" sz="1700" dirty="0">
                <a:solidFill>
                  <a:schemeClr val="bg1"/>
                </a:solidFill>
              </a:rPr>
              <a:t> </a:t>
            </a:r>
            <a:r>
              <a:rPr lang="en-US" sz="1700" dirty="0" err="1">
                <a:solidFill>
                  <a:schemeClr val="bg1"/>
                </a:solidFill>
              </a:rPr>
              <a:t>în</a:t>
            </a:r>
            <a:r>
              <a:rPr lang="en-US" sz="1700" dirty="0">
                <a:solidFill>
                  <a:schemeClr val="bg1"/>
                </a:solidFill>
              </a:rPr>
              <a:t> </a:t>
            </a:r>
            <a:r>
              <a:rPr lang="en-US" sz="1700" dirty="0" err="1">
                <a:solidFill>
                  <a:schemeClr val="bg1"/>
                </a:solidFill>
              </a:rPr>
              <a:t>sistemul</a:t>
            </a:r>
            <a:r>
              <a:rPr lang="en-US" sz="1700" dirty="0">
                <a:solidFill>
                  <a:schemeClr val="bg1"/>
                </a:solidFill>
              </a:rPr>
              <a:t> </a:t>
            </a:r>
            <a:r>
              <a:rPr lang="en-US" sz="1700" dirty="0" err="1">
                <a:solidFill>
                  <a:schemeClr val="bg1"/>
                </a:solidFill>
              </a:rPr>
              <a:t>curat</a:t>
            </a:r>
            <a:endParaRPr lang="en-US" sz="1700" dirty="0">
              <a:solidFill>
                <a:schemeClr val="bg1"/>
              </a:solidFill>
            </a:endParaRPr>
          </a:p>
          <a:p>
            <a:pPr lvl="1"/>
            <a:r>
              <a:rPr lang="en-US" sz="1700" b="1" dirty="0" err="1">
                <a:solidFill>
                  <a:schemeClr val="bg1"/>
                </a:solidFill>
              </a:rPr>
              <a:t>Pierderi</a:t>
            </a:r>
            <a:r>
              <a:rPr lang="en-US" sz="1700" b="1" dirty="0">
                <a:solidFill>
                  <a:schemeClr val="bg1"/>
                </a:solidFill>
              </a:rPr>
              <a:t> de </a:t>
            </a:r>
            <a:r>
              <a:rPr lang="en-US" sz="1700" b="1" dirty="0" err="1">
                <a:solidFill>
                  <a:schemeClr val="bg1"/>
                </a:solidFill>
              </a:rPr>
              <a:t>energie</a:t>
            </a:r>
            <a:r>
              <a:rPr lang="en-US" sz="1700" dirty="0">
                <a:solidFill>
                  <a:schemeClr val="bg1"/>
                </a:solidFill>
              </a:rPr>
              <a:t> </a:t>
            </a:r>
            <a:r>
              <a:rPr lang="en-US" sz="1700" dirty="0" err="1">
                <a:solidFill>
                  <a:schemeClr val="bg1"/>
                </a:solidFill>
              </a:rPr>
              <a:t>datorate</a:t>
            </a:r>
            <a:r>
              <a:rPr lang="en-US" sz="1700" dirty="0">
                <a:solidFill>
                  <a:schemeClr val="bg1"/>
                </a:solidFill>
              </a:rPr>
              <a:t> </a:t>
            </a:r>
            <a:r>
              <a:rPr lang="en-US" sz="1700" dirty="0" err="1">
                <a:solidFill>
                  <a:schemeClr val="bg1"/>
                </a:solidFill>
              </a:rPr>
              <a:t>necesității</a:t>
            </a:r>
            <a:r>
              <a:rPr lang="en-US" sz="1700" dirty="0">
                <a:solidFill>
                  <a:schemeClr val="bg1"/>
                </a:solidFill>
              </a:rPr>
              <a:t> de a </a:t>
            </a:r>
            <a:r>
              <a:rPr lang="en-US" sz="1700" dirty="0" err="1">
                <a:solidFill>
                  <a:schemeClr val="bg1"/>
                </a:solidFill>
              </a:rPr>
              <a:t>reporni</a:t>
            </a:r>
            <a:r>
              <a:rPr lang="en-US" sz="1700" dirty="0">
                <a:solidFill>
                  <a:schemeClr val="bg1"/>
                </a:solidFill>
              </a:rPr>
              <a:t> </a:t>
            </a:r>
            <a:r>
              <a:rPr lang="en-US" sz="1700" dirty="0" err="1">
                <a:solidFill>
                  <a:schemeClr val="bg1"/>
                </a:solidFill>
              </a:rPr>
              <a:t>echipamentele</a:t>
            </a:r>
            <a:r>
              <a:rPr lang="en-US" sz="1700" dirty="0">
                <a:solidFill>
                  <a:schemeClr val="bg1"/>
                </a:solidFill>
              </a:rPr>
              <a:t> </a:t>
            </a:r>
            <a:r>
              <a:rPr lang="en-US" sz="1700" dirty="0" err="1">
                <a:solidFill>
                  <a:schemeClr val="bg1"/>
                </a:solidFill>
              </a:rPr>
              <a:t>pentru</a:t>
            </a:r>
            <a:r>
              <a:rPr lang="en-US" sz="1700" dirty="0">
                <a:solidFill>
                  <a:schemeClr val="bg1"/>
                </a:solidFill>
              </a:rPr>
              <a:t> a </a:t>
            </a:r>
            <a:r>
              <a:rPr lang="en-US" sz="1700" dirty="0" err="1">
                <a:solidFill>
                  <a:schemeClr val="bg1"/>
                </a:solidFill>
              </a:rPr>
              <a:t>elimina</a:t>
            </a:r>
            <a:r>
              <a:rPr lang="en-US" sz="1700" dirty="0">
                <a:solidFill>
                  <a:schemeClr val="bg1"/>
                </a:solidFill>
              </a:rPr>
              <a:t> </a:t>
            </a:r>
            <a:r>
              <a:rPr lang="en-US" sz="1700" dirty="0" err="1">
                <a:solidFill>
                  <a:schemeClr val="bg1"/>
                </a:solidFill>
              </a:rPr>
              <a:t>refluxul</a:t>
            </a:r>
            <a:endParaRPr lang="en-US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803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D5F26-3A6C-13EE-F49C-C138B6D19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n-US" sz="5600" b="1">
                <a:solidFill>
                  <a:schemeClr val="bg1"/>
                </a:solidFill>
              </a:rPr>
              <a:t>Mod de funcționare</a:t>
            </a:r>
            <a:br>
              <a:rPr lang="en-US" sz="5600" b="1">
                <a:solidFill>
                  <a:schemeClr val="bg1"/>
                </a:solidFill>
              </a:rPr>
            </a:br>
            <a:endParaRPr lang="en-US" sz="56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1F053-EFD0-BF81-5939-6363F9717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Supapele cu sens se bazează pe un mecanism simplu, dar eficient, care se activează prin diferența de presiune dintre intrare și ieșire. Cateva tipuri include:</a:t>
            </a:r>
          </a:p>
          <a:p>
            <a:pPr lvl="1"/>
            <a:r>
              <a:rPr lang="en-US" sz="2000" b="1">
                <a:solidFill>
                  <a:schemeClr val="bg1"/>
                </a:solidFill>
              </a:rPr>
              <a:t>Supapă cu disc mobil</a:t>
            </a:r>
          </a:p>
          <a:p>
            <a:pPr lvl="1"/>
            <a:r>
              <a:rPr lang="en-US" sz="2000" b="1">
                <a:solidFill>
                  <a:schemeClr val="bg1"/>
                </a:solidFill>
              </a:rPr>
              <a:t>Supapă cu clapetă</a:t>
            </a:r>
          </a:p>
          <a:p>
            <a:pPr lvl="1"/>
            <a:r>
              <a:rPr lang="en-US" sz="2000" b="1">
                <a:solidFill>
                  <a:schemeClr val="bg1"/>
                </a:solidFill>
              </a:rPr>
              <a:t>Supapă cu balon (inflatable)</a:t>
            </a:r>
          </a:p>
          <a:p>
            <a:pPr lvl="1"/>
            <a:r>
              <a:rPr lang="en-US" sz="2000" b="1">
                <a:solidFill>
                  <a:schemeClr val="bg1"/>
                </a:solidFill>
              </a:rPr>
              <a:t>Supapă cu rotor (swing‑type)</a:t>
            </a:r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42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5F18414D-1626-4996-AACB-23D3DE45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C9DF69-A3CB-F038-67A5-4621E08BA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875" y="707132"/>
            <a:ext cx="3062287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5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Imagini din Corpul Uman si Scheme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483A15-2173-FD36-CE11-1865DF8D88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45" r="-1" b="7019"/>
          <a:stretch>
            <a:fillRect/>
          </a:stretch>
        </p:blipFill>
        <p:spPr>
          <a:xfrm>
            <a:off x="5748338" y="1"/>
            <a:ext cx="6443662" cy="3209924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B40B070-8448-7E48-88A9-6C2A34E37A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 b="4042"/>
          <a:stretch>
            <a:fillRect/>
          </a:stretch>
        </p:blipFill>
        <p:spPr>
          <a:xfrm>
            <a:off x="5748338" y="3209924"/>
            <a:ext cx="6443662" cy="3648076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7A9243D-8FC3-4B36-874B-55906B03F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428875" y="3209925"/>
            <a:ext cx="976312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535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5F18414D-1626-4996-AACB-23D3DE45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EAACB0-F508-A183-3011-86BE7B63B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875" y="707132"/>
            <a:ext cx="3062287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5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Imagini din Corpul Uman si Scheme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3D5A40-A418-6BC8-8735-6819177735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86" r="-1" b="23668"/>
          <a:stretch>
            <a:fillRect/>
          </a:stretch>
        </p:blipFill>
        <p:spPr>
          <a:xfrm>
            <a:off x="5748338" y="1"/>
            <a:ext cx="6443662" cy="3209924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689919-7AA9-5C3F-8AB2-401BF1CA04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59" r="1" b="1"/>
          <a:stretch>
            <a:fillRect/>
          </a:stretch>
        </p:blipFill>
        <p:spPr>
          <a:xfrm>
            <a:off x="5748338" y="3209924"/>
            <a:ext cx="6443662" cy="3648076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7A9243D-8FC3-4B36-874B-55906B03F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428875" y="3209925"/>
            <a:ext cx="976312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70587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FE211-810A-B117-B2F5-93E8D25FE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Cum se </a:t>
            </a:r>
            <a:r>
              <a:rPr lang="en-US" sz="5000" b="1" dirty="0" err="1">
                <a:solidFill>
                  <a:schemeClr val="bg1"/>
                </a:solidFill>
              </a:rPr>
              <a:t>alege</a:t>
            </a:r>
            <a:r>
              <a:rPr lang="en-US" sz="5000" b="1" dirty="0">
                <a:solidFill>
                  <a:schemeClr val="bg1"/>
                </a:solidFill>
              </a:rPr>
              <a:t> </a:t>
            </a:r>
            <a:r>
              <a:rPr lang="en-US" sz="5000" b="1" dirty="0" err="1">
                <a:solidFill>
                  <a:schemeClr val="bg1"/>
                </a:solidFill>
              </a:rPr>
              <a:t>supapa</a:t>
            </a:r>
            <a:r>
              <a:rPr lang="en-US" sz="5000" b="1" dirty="0">
                <a:solidFill>
                  <a:schemeClr val="bg1"/>
                </a:solidFill>
              </a:rPr>
              <a:t> cu </a:t>
            </a:r>
            <a:r>
              <a:rPr lang="en-US" sz="5000" b="1" dirty="0" err="1">
                <a:solidFill>
                  <a:schemeClr val="bg1"/>
                </a:solidFill>
              </a:rPr>
              <a:t>sens</a:t>
            </a:r>
            <a:r>
              <a:rPr lang="en-US" sz="5000" b="1" dirty="0">
                <a:solidFill>
                  <a:schemeClr val="bg1"/>
                </a:solidFill>
              </a:rPr>
              <a:t> </a:t>
            </a:r>
            <a:r>
              <a:rPr lang="en-US" sz="5000" b="1" dirty="0" err="1">
                <a:solidFill>
                  <a:schemeClr val="bg1"/>
                </a:solidFill>
              </a:rPr>
              <a:t>potrivită</a:t>
            </a:r>
            <a:br>
              <a:rPr lang="en-US" sz="5000" b="1" dirty="0">
                <a:solidFill>
                  <a:schemeClr val="bg1"/>
                </a:solidFill>
              </a:rPr>
            </a:br>
            <a:endParaRPr lang="en-US" sz="5000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30C4B-3E19-F165-9949-26818D32A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6836" y="1108061"/>
            <a:ext cx="5528066" cy="4571972"/>
          </a:xfrm>
        </p:spPr>
        <p:txBody>
          <a:bodyPr anchor="ctr">
            <a:normAutofit/>
          </a:bodyPr>
          <a:lstStyle/>
          <a:p>
            <a:r>
              <a:rPr lang="en-US" sz="2000" b="1" dirty="0" err="1">
                <a:solidFill>
                  <a:schemeClr val="bg1"/>
                </a:solidFill>
              </a:rPr>
              <a:t>Tipul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fluidului</a:t>
            </a:r>
            <a:r>
              <a:rPr lang="en-US" sz="2000" dirty="0">
                <a:solidFill>
                  <a:schemeClr val="bg1"/>
                </a:solidFill>
              </a:rPr>
              <a:t> – </a:t>
            </a:r>
            <a:r>
              <a:rPr lang="en-US" sz="2000" dirty="0" err="1">
                <a:solidFill>
                  <a:schemeClr val="bg1"/>
                </a:solidFill>
              </a:rPr>
              <a:t>Dacă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fluidul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conține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particule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solide</a:t>
            </a:r>
            <a:r>
              <a:rPr lang="en-US" sz="2000" dirty="0">
                <a:solidFill>
                  <a:schemeClr val="bg1"/>
                </a:solidFill>
              </a:rPr>
              <a:t>, se </a:t>
            </a:r>
            <a:r>
              <a:rPr lang="en-US" sz="2000" dirty="0" err="1">
                <a:solidFill>
                  <a:schemeClr val="bg1"/>
                </a:solidFill>
              </a:rPr>
              <a:t>preferă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supape</a:t>
            </a:r>
            <a:r>
              <a:rPr lang="en-US" sz="2000" dirty="0">
                <a:solidFill>
                  <a:schemeClr val="bg1"/>
                </a:solidFill>
              </a:rPr>
              <a:t> cu disc </a:t>
            </a:r>
            <a:r>
              <a:rPr lang="en-US" sz="2000" dirty="0" err="1">
                <a:solidFill>
                  <a:schemeClr val="bg1"/>
                </a:solidFill>
              </a:rPr>
              <a:t>mobil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și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șezuturi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largi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pentru</a:t>
            </a:r>
            <a:r>
              <a:rPr lang="en-US" sz="2000" dirty="0">
                <a:solidFill>
                  <a:schemeClr val="bg1"/>
                </a:solidFill>
              </a:rPr>
              <a:t> a </a:t>
            </a:r>
            <a:r>
              <a:rPr lang="en-US" sz="2000" dirty="0" err="1">
                <a:solidFill>
                  <a:schemeClr val="bg1"/>
                </a:solidFill>
              </a:rPr>
              <a:t>evita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blocajele</a:t>
            </a:r>
            <a:r>
              <a:rPr lang="en-US" sz="2000" dirty="0">
                <a:solidFill>
                  <a:schemeClr val="bg1"/>
                </a:solidFill>
              </a:rPr>
              <a:t>. </a:t>
            </a:r>
            <a:r>
              <a:rPr lang="en-US" sz="2000" dirty="0" err="1">
                <a:solidFill>
                  <a:schemeClr val="bg1"/>
                </a:solidFill>
              </a:rPr>
              <a:t>Pentru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fluide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corozive</a:t>
            </a:r>
            <a:r>
              <a:rPr lang="en-US" sz="2000" dirty="0">
                <a:solidFill>
                  <a:schemeClr val="bg1"/>
                </a:solidFill>
              </a:rPr>
              <a:t>, se </a:t>
            </a:r>
            <a:r>
              <a:rPr lang="en-US" sz="2000" dirty="0" err="1">
                <a:solidFill>
                  <a:schemeClr val="bg1"/>
                </a:solidFill>
              </a:rPr>
              <a:t>optează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pentru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materiale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rezistente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 err="1">
                <a:solidFill>
                  <a:schemeClr val="bg1"/>
                </a:solidFill>
              </a:rPr>
              <a:t>Presiunea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și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temperatura</a:t>
            </a:r>
            <a:r>
              <a:rPr lang="en-US" sz="2000" b="1" dirty="0">
                <a:solidFill>
                  <a:schemeClr val="bg1"/>
                </a:solidFill>
              </a:rPr>
              <a:t> de </a:t>
            </a:r>
            <a:r>
              <a:rPr lang="en-US" sz="2000" b="1" dirty="0" err="1">
                <a:solidFill>
                  <a:schemeClr val="bg1"/>
                </a:solidFill>
              </a:rPr>
              <a:t>operare</a:t>
            </a:r>
            <a:r>
              <a:rPr lang="en-US" sz="2000" dirty="0">
                <a:solidFill>
                  <a:schemeClr val="bg1"/>
                </a:solidFill>
              </a:rPr>
              <a:t> – Se </a:t>
            </a:r>
            <a:r>
              <a:rPr lang="en-US" sz="2000" dirty="0" err="1">
                <a:solidFill>
                  <a:schemeClr val="bg1"/>
                </a:solidFill>
              </a:rPr>
              <a:t>selectează</a:t>
            </a:r>
            <a:r>
              <a:rPr lang="en-US" sz="2000" dirty="0">
                <a:solidFill>
                  <a:schemeClr val="bg1"/>
                </a:solidFill>
              </a:rPr>
              <a:t> o </a:t>
            </a:r>
            <a:r>
              <a:rPr lang="en-US" sz="2000" dirty="0" err="1">
                <a:solidFill>
                  <a:schemeClr val="bg1"/>
                </a:solidFill>
              </a:rPr>
              <a:t>supapă</a:t>
            </a:r>
            <a:r>
              <a:rPr lang="en-US" sz="2000" dirty="0">
                <a:solidFill>
                  <a:schemeClr val="bg1"/>
                </a:solidFill>
              </a:rPr>
              <a:t> cu rating de </a:t>
            </a:r>
            <a:r>
              <a:rPr lang="en-US" sz="2000" dirty="0" err="1">
                <a:solidFill>
                  <a:schemeClr val="bg1"/>
                </a:solidFill>
              </a:rPr>
              <a:t>presiune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și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temperatură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superioare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conditiilor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exploatare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Debit </a:t>
            </a:r>
            <a:r>
              <a:rPr lang="en-US" sz="2000" b="1" dirty="0" err="1">
                <a:solidFill>
                  <a:schemeClr val="bg1"/>
                </a:solidFill>
              </a:rPr>
              <a:t>și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viteză</a:t>
            </a:r>
            <a:r>
              <a:rPr lang="en-US" sz="2000" b="1" dirty="0">
                <a:solidFill>
                  <a:schemeClr val="bg1"/>
                </a:solidFill>
              </a:rPr>
              <a:t> de </a:t>
            </a:r>
            <a:r>
              <a:rPr lang="en-US" sz="2000" b="1" dirty="0" err="1">
                <a:solidFill>
                  <a:schemeClr val="bg1"/>
                </a:solidFill>
              </a:rPr>
              <a:t>curgere</a:t>
            </a:r>
            <a:r>
              <a:rPr lang="en-US" sz="2000" dirty="0">
                <a:solidFill>
                  <a:schemeClr val="bg1"/>
                </a:solidFill>
              </a:rPr>
              <a:t> – </a:t>
            </a:r>
            <a:r>
              <a:rPr lang="en-US" sz="2000" dirty="0" err="1">
                <a:solidFill>
                  <a:schemeClr val="bg1"/>
                </a:solidFill>
              </a:rPr>
              <a:t>Pentru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debituri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mari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supapele</a:t>
            </a:r>
            <a:r>
              <a:rPr lang="en-US" sz="2000" dirty="0">
                <a:solidFill>
                  <a:schemeClr val="bg1"/>
                </a:solidFill>
              </a:rPr>
              <a:t> cu rotor </a:t>
            </a:r>
            <a:r>
              <a:rPr lang="en-US" sz="2000" dirty="0" err="1">
                <a:solidFill>
                  <a:schemeClr val="bg1"/>
                </a:solidFill>
              </a:rPr>
              <a:t>sau</a:t>
            </a:r>
            <a:r>
              <a:rPr lang="en-US" sz="2000" dirty="0">
                <a:solidFill>
                  <a:schemeClr val="bg1"/>
                </a:solidFill>
              </a:rPr>
              <a:t> cu </a:t>
            </a:r>
            <a:r>
              <a:rPr lang="en-US" sz="2000" dirty="0" err="1">
                <a:solidFill>
                  <a:schemeClr val="bg1"/>
                </a:solidFill>
              </a:rPr>
              <a:t>clapetă</a:t>
            </a:r>
            <a:r>
              <a:rPr lang="en-US" sz="2000" dirty="0">
                <a:solidFill>
                  <a:schemeClr val="bg1"/>
                </a:solidFill>
              </a:rPr>
              <a:t> sunt </a:t>
            </a:r>
            <a:r>
              <a:rPr lang="en-US" sz="2000" dirty="0" err="1">
                <a:solidFill>
                  <a:schemeClr val="bg1"/>
                </a:solidFill>
              </a:rPr>
              <a:t>mai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adecvate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deoarece</a:t>
            </a:r>
            <a:r>
              <a:rPr lang="en-US" sz="2000" dirty="0">
                <a:solidFill>
                  <a:schemeClr val="bg1"/>
                </a:solidFill>
              </a:rPr>
              <a:t> au un </a:t>
            </a:r>
            <a:r>
              <a:rPr lang="en-US" sz="2000" dirty="0" err="1">
                <a:solidFill>
                  <a:schemeClr val="bg1"/>
                </a:solidFill>
              </a:rPr>
              <a:t>coeficient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pierdere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mai</a:t>
            </a:r>
            <a:r>
              <a:rPr lang="en-US" sz="2000" dirty="0">
                <a:solidFill>
                  <a:schemeClr val="bg1"/>
                </a:solidFill>
              </a:rPr>
              <a:t> mic</a:t>
            </a:r>
          </a:p>
        </p:txBody>
      </p:sp>
    </p:spTree>
    <p:extLst>
      <p:ext uri="{BB962C8B-B14F-4D97-AF65-F5344CB8AC3E}">
        <p14:creationId xmlns:p14="http://schemas.microsoft.com/office/powerpoint/2010/main" val="42783548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F2ECA2-27A0-EF0D-9724-4C590C167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n-US" sz="5000" b="1">
                <a:solidFill>
                  <a:schemeClr val="bg1"/>
                </a:solidFill>
              </a:rPr>
              <a:t>Cum se alege supapa cu sens potrivită</a:t>
            </a:r>
            <a:br>
              <a:rPr lang="en-US" sz="5000" b="1">
                <a:solidFill>
                  <a:schemeClr val="bg1"/>
                </a:solidFill>
              </a:rPr>
            </a:br>
            <a:endParaRPr lang="en-US" sz="50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A504C-0AC7-1DAC-C49E-29CD56AC8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lang="en-US" sz="2000" b="1" dirty="0" err="1">
                <a:solidFill>
                  <a:schemeClr val="bg1"/>
                </a:solidFill>
              </a:rPr>
              <a:t>Spațiul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disponibil</a:t>
            </a:r>
            <a:r>
              <a:rPr lang="en-US" sz="2000" dirty="0">
                <a:solidFill>
                  <a:schemeClr val="bg1"/>
                </a:solidFill>
              </a:rPr>
              <a:t> – </a:t>
            </a:r>
            <a:r>
              <a:rPr lang="en-US" sz="2000" dirty="0" err="1">
                <a:solidFill>
                  <a:schemeClr val="bg1"/>
                </a:solidFill>
              </a:rPr>
              <a:t>Supapele</a:t>
            </a:r>
            <a:r>
              <a:rPr lang="en-US" sz="2000" dirty="0">
                <a:solidFill>
                  <a:schemeClr val="bg1"/>
                </a:solidFill>
              </a:rPr>
              <a:t> cu disc </a:t>
            </a:r>
            <a:r>
              <a:rPr lang="en-US" sz="2000" dirty="0" err="1">
                <a:solidFill>
                  <a:schemeClr val="bg1"/>
                </a:solidFill>
              </a:rPr>
              <a:t>mobil</a:t>
            </a:r>
            <a:r>
              <a:rPr lang="en-US" sz="2000" dirty="0">
                <a:solidFill>
                  <a:schemeClr val="bg1"/>
                </a:solidFill>
              </a:rPr>
              <a:t> sunt </a:t>
            </a:r>
            <a:r>
              <a:rPr lang="en-US" sz="2000" dirty="0" err="1">
                <a:solidFill>
                  <a:schemeClr val="bg1"/>
                </a:solidFill>
              </a:rPr>
              <a:t>compacte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 err="1">
                <a:solidFill>
                  <a:schemeClr val="bg1"/>
                </a:solidFill>
              </a:rPr>
              <a:t>Nivelul</a:t>
            </a:r>
            <a:r>
              <a:rPr lang="en-US" sz="2000" b="1" dirty="0">
                <a:solidFill>
                  <a:schemeClr val="bg1"/>
                </a:solidFill>
              </a:rPr>
              <a:t> de </a:t>
            </a:r>
            <a:r>
              <a:rPr lang="en-US" sz="2000" b="1" dirty="0" err="1">
                <a:solidFill>
                  <a:schemeClr val="bg1"/>
                </a:solidFill>
              </a:rPr>
              <a:t>zgomot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permis</a:t>
            </a:r>
            <a:r>
              <a:rPr lang="en-US" sz="2000" dirty="0">
                <a:solidFill>
                  <a:schemeClr val="bg1"/>
                </a:solidFill>
              </a:rPr>
              <a:t> – </a:t>
            </a:r>
            <a:r>
              <a:rPr lang="en-US" sz="2000" dirty="0" err="1">
                <a:solidFill>
                  <a:schemeClr val="bg1"/>
                </a:solidFill>
              </a:rPr>
              <a:t>Supapele</a:t>
            </a:r>
            <a:r>
              <a:rPr lang="en-US" sz="2000" dirty="0">
                <a:solidFill>
                  <a:schemeClr val="bg1"/>
                </a:solidFill>
              </a:rPr>
              <a:t> cu </a:t>
            </a:r>
            <a:r>
              <a:rPr lang="en-US" sz="2000" dirty="0" err="1">
                <a:solidFill>
                  <a:schemeClr val="bg1"/>
                </a:solidFill>
              </a:rPr>
              <a:t>clapetă</a:t>
            </a:r>
            <a:r>
              <a:rPr lang="en-US" sz="2000" dirty="0">
                <a:solidFill>
                  <a:schemeClr val="bg1"/>
                </a:solidFill>
              </a:rPr>
              <a:t> pot genera </a:t>
            </a:r>
            <a:r>
              <a:rPr lang="en-US" sz="2000" dirty="0" err="1">
                <a:solidFill>
                  <a:schemeClr val="bg1"/>
                </a:solidFill>
              </a:rPr>
              <a:t>vibrații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și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zgomot</a:t>
            </a:r>
            <a:r>
              <a:rPr lang="en-US" sz="2000" dirty="0">
                <a:solidFill>
                  <a:schemeClr val="bg1"/>
                </a:solidFill>
              </a:rPr>
              <a:t> la </a:t>
            </a:r>
            <a:r>
              <a:rPr lang="en-US" sz="2000" dirty="0" err="1">
                <a:solidFill>
                  <a:schemeClr val="bg1"/>
                </a:solidFill>
              </a:rPr>
              <a:t>închidere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rapidă</a:t>
            </a:r>
            <a:r>
              <a:rPr lang="en-US" sz="2000" dirty="0">
                <a:solidFill>
                  <a:schemeClr val="bg1"/>
                </a:solidFill>
              </a:rPr>
              <a:t>; </a:t>
            </a:r>
            <a:r>
              <a:rPr lang="en-US" sz="2000" dirty="0" err="1">
                <a:solidFill>
                  <a:schemeClr val="bg1"/>
                </a:solidFill>
              </a:rPr>
              <a:t>în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medii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sensibile</a:t>
            </a:r>
            <a:r>
              <a:rPr lang="en-US" sz="2000" dirty="0">
                <a:solidFill>
                  <a:schemeClr val="bg1"/>
                </a:solidFill>
              </a:rPr>
              <a:t> se </a:t>
            </a:r>
            <a:r>
              <a:rPr lang="en-US" sz="2000" dirty="0" err="1">
                <a:solidFill>
                  <a:schemeClr val="bg1"/>
                </a:solidFill>
              </a:rPr>
              <a:t>aleg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modele</a:t>
            </a:r>
            <a:r>
              <a:rPr lang="en-US" sz="2000" dirty="0">
                <a:solidFill>
                  <a:schemeClr val="bg1"/>
                </a:solidFill>
              </a:rPr>
              <a:t> cu </a:t>
            </a:r>
            <a:r>
              <a:rPr lang="en-US" sz="2000" b="1" dirty="0">
                <a:solidFill>
                  <a:schemeClr val="bg1"/>
                </a:solidFill>
              </a:rPr>
              <a:t>soft‑close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 err="1">
                <a:solidFill>
                  <a:schemeClr val="bg1"/>
                </a:solidFill>
              </a:rPr>
              <a:t>Cerințe</a:t>
            </a:r>
            <a:r>
              <a:rPr lang="en-US" sz="2000" b="1" dirty="0">
                <a:solidFill>
                  <a:schemeClr val="bg1"/>
                </a:solidFill>
              </a:rPr>
              <a:t> de </a:t>
            </a:r>
            <a:r>
              <a:rPr lang="en-US" sz="2000" b="1" dirty="0" err="1">
                <a:solidFill>
                  <a:schemeClr val="bg1"/>
                </a:solidFill>
              </a:rPr>
              <a:t>întreținere</a:t>
            </a:r>
            <a:r>
              <a:rPr lang="en-US" sz="2000" dirty="0">
                <a:solidFill>
                  <a:schemeClr val="bg1"/>
                </a:solidFill>
              </a:rPr>
              <a:t> – </a:t>
            </a:r>
            <a:r>
              <a:rPr lang="en-US" sz="2000" dirty="0" err="1">
                <a:solidFill>
                  <a:schemeClr val="bg1"/>
                </a:solidFill>
              </a:rPr>
              <a:t>Dacă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accesul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pentru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curățare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este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limitat</a:t>
            </a:r>
            <a:r>
              <a:rPr lang="en-US" sz="2000" dirty="0">
                <a:solidFill>
                  <a:schemeClr val="bg1"/>
                </a:solidFill>
              </a:rPr>
              <a:t>, se </a:t>
            </a:r>
            <a:r>
              <a:rPr lang="en-US" sz="2000" dirty="0" err="1">
                <a:solidFill>
                  <a:schemeClr val="bg1"/>
                </a:solidFill>
              </a:rPr>
              <a:t>preferă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supape</a:t>
            </a:r>
            <a:r>
              <a:rPr lang="en-US" sz="2000" dirty="0">
                <a:solidFill>
                  <a:schemeClr val="bg1"/>
                </a:solidFill>
              </a:rPr>
              <a:t> cu </a:t>
            </a:r>
            <a:r>
              <a:rPr lang="en-US" sz="2000" dirty="0" err="1">
                <a:solidFill>
                  <a:schemeClr val="bg1"/>
                </a:solidFill>
              </a:rPr>
              <a:t>șezuturi</a:t>
            </a:r>
            <a:r>
              <a:rPr lang="en-US" sz="2000" dirty="0">
                <a:solidFill>
                  <a:schemeClr val="bg1"/>
                </a:solidFill>
              </a:rPr>
              <a:t> auto‑</a:t>
            </a:r>
            <a:r>
              <a:rPr lang="en-US" sz="2000" dirty="0" err="1">
                <a:solidFill>
                  <a:schemeClr val="bg1"/>
                </a:solidFill>
              </a:rPr>
              <a:t>curățante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580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674F42-D72C-6169-033E-6E5CC8B1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n-US" sz="6200" b="1">
                <a:solidFill>
                  <a:schemeClr val="bg1"/>
                </a:solidFill>
              </a:rPr>
              <a:t>Exemple de aplicații in Industrie</a:t>
            </a:r>
            <a:endParaRPr lang="en-US" sz="62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B3F63-E008-3261-99F4-708770396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lang="en-US" sz="1700" b="1">
                <a:solidFill>
                  <a:schemeClr val="bg1"/>
                </a:solidFill>
              </a:rPr>
              <a:t>Stații de pompare a apei potabile</a:t>
            </a:r>
            <a:r>
              <a:rPr lang="en-US" sz="1700">
                <a:solidFill>
                  <a:schemeClr val="bg1"/>
                </a:solidFill>
              </a:rPr>
              <a:t> - Supapele cu disc mobil previn întoarcerea apei în caz de oprire a pompei, protejând instalația de contaminare</a:t>
            </a:r>
          </a:p>
          <a:p>
            <a:r>
              <a:rPr lang="en-US" sz="1700" b="1">
                <a:solidFill>
                  <a:schemeClr val="bg1"/>
                </a:solidFill>
              </a:rPr>
              <a:t>Centrale termice pe bază de abur</a:t>
            </a:r>
            <a:r>
              <a:rPr lang="en-US" sz="1700">
                <a:solidFill>
                  <a:schemeClr val="bg1"/>
                </a:solidFill>
              </a:rPr>
              <a:t> - Supapele cu clapetă sunt instalate pe linii de condensat pentru a împiedica refluxul aburului în turbine</a:t>
            </a:r>
          </a:p>
          <a:p>
            <a:r>
              <a:rPr lang="en-US" sz="1700" b="1">
                <a:solidFill>
                  <a:schemeClr val="bg1"/>
                </a:solidFill>
              </a:rPr>
              <a:t>Industria alimentară</a:t>
            </a:r>
            <a:r>
              <a:rPr lang="en-US" sz="1700">
                <a:solidFill>
                  <a:schemeClr val="bg1"/>
                </a:solidFill>
              </a:rPr>
              <a:t> – Supapele din inox cu membrană PTFE asigură igiena și rezistența la curățare chimică în linii de procesare a lichidelor alimentare</a:t>
            </a:r>
          </a:p>
          <a:p>
            <a:r>
              <a:rPr lang="en-US" sz="1700" b="1">
                <a:solidFill>
                  <a:schemeClr val="bg1"/>
                </a:solidFill>
              </a:rPr>
              <a:t>Sisteme marine</a:t>
            </a:r>
            <a:r>
              <a:rPr lang="en-US" sz="1700">
                <a:solidFill>
                  <a:schemeClr val="bg1"/>
                </a:solidFill>
              </a:rPr>
              <a:t> – Supapele cu disc mobil protejează pompele de ballast de refluxul apei de mare, evitând contaminarea sistemului de alimentare cu combustibil</a:t>
            </a:r>
          </a:p>
        </p:txBody>
      </p:sp>
    </p:spTree>
    <p:extLst>
      <p:ext uri="{BB962C8B-B14F-4D97-AF65-F5344CB8AC3E}">
        <p14:creationId xmlns:p14="http://schemas.microsoft.com/office/powerpoint/2010/main" val="41661180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0600C9-E192-975D-3C8D-FAF38AF98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8308"/>
            <a:ext cx="7188989" cy="1021424"/>
          </a:xfrm>
        </p:spPr>
        <p:txBody>
          <a:bodyPr anchor="b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Sursa ?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1440584"/>
            <a:ext cx="80271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C2F6CE-0CF2-4DDD-85F5-96799A328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164811" y="6267491"/>
            <a:ext cx="80271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C9AFB82-4D04-BA05-E0EB-9AFE3FFDAD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6085524"/>
              </p:ext>
            </p:extLst>
          </p:nvPr>
        </p:nvGraphicFramePr>
        <p:xfrm>
          <a:off x="1392238" y="2055519"/>
          <a:ext cx="9407525" cy="3593034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9407525">
                  <a:extLst>
                    <a:ext uri="{9D8B030D-6E8A-4147-A177-3AD203B41FA5}">
                      <a16:colId xmlns:a16="http://schemas.microsoft.com/office/drawing/2014/main" val="117756977"/>
                    </a:ext>
                  </a:extLst>
                </a:gridCol>
              </a:tblGrid>
              <a:tr h="356157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1" kern="12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American Society of Mechanical Engineers (ASME) – Boiler and Pressure Vessel Code, Section VIII</a:t>
                      </a:r>
                      <a:endParaRPr lang="en-US" sz="1400" i="1" cap="none" spc="0" dirty="0">
                        <a:solidFill>
                          <a:schemeClr val="bg1"/>
                        </a:solidFill>
                        <a:effectLst/>
                        <a:latin typeface="inherit"/>
                      </a:endParaRPr>
                    </a:p>
                    <a:p>
                      <a:pPr algn="l" fontAlgn="t">
                        <a:buNone/>
                      </a:pPr>
                      <a:br>
                        <a:rPr lang="en-US" sz="1400" i="1" cap="none" spc="0" dirty="0">
                          <a:solidFill>
                            <a:schemeClr val="bg1"/>
                          </a:solidFill>
                          <a:effectLst/>
                          <a:latin typeface="inherit"/>
                        </a:rPr>
                      </a:br>
                      <a:r>
                        <a:rPr lang="en-US" sz="1400" i="1" cap="none" spc="0" dirty="0">
                          <a:solidFill>
                            <a:schemeClr val="bg1"/>
                          </a:solidFill>
                          <a:effectLst/>
                          <a:latin typeface="inherit"/>
                        </a:rPr>
                        <a:t>Perry’s</a:t>
                      </a:r>
                      <a:r>
                        <a:rPr lang="en-US" sz="1400" i="1" cap="none" spc="0" dirty="0">
                          <a:solidFill>
                            <a:schemeClr val="bg1"/>
                          </a:solidFill>
                          <a:effectLst/>
                          <a:latin typeface="DuckSansProduct"/>
                        </a:rPr>
                        <a:t> </a:t>
                      </a:r>
                      <a:r>
                        <a:rPr lang="en-US" sz="1400" i="1" cap="none" spc="0" dirty="0">
                          <a:solidFill>
                            <a:schemeClr val="bg1"/>
                          </a:solidFill>
                          <a:effectLst/>
                          <a:latin typeface="inherit"/>
                        </a:rPr>
                        <a:t>Chemical</a:t>
                      </a:r>
                      <a:r>
                        <a:rPr lang="en-US" sz="1400" i="1" cap="none" spc="0" dirty="0">
                          <a:solidFill>
                            <a:schemeClr val="bg1"/>
                          </a:solidFill>
                          <a:effectLst/>
                          <a:latin typeface="DuckSansProduct"/>
                        </a:rPr>
                        <a:t> </a:t>
                      </a:r>
                      <a:r>
                        <a:rPr lang="en-US" sz="1400" i="1" cap="none" spc="0" dirty="0">
                          <a:solidFill>
                            <a:schemeClr val="bg1"/>
                          </a:solidFill>
                          <a:effectLst/>
                          <a:latin typeface="inherit"/>
                        </a:rPr>
                        <a:t>Engineers’</a:t>
                      </a:r>
                      <a:r>
                        <a:rPr lang="en-US" sz="1400" i="1" cap="none" spc="0" dirty="0">
                          <a:solidFill>
                            <a:schemeClr val="bg1"/>
                          </a:solidFill>
                          <a:effectLst/>
                          <a:latin typeface="DuckSansProduct"/>
                        </a:rPr>
                        <a:t> </a:t>
                      </a:r>
                      <a:r>
                        <a:rPr lang="en-US" sz="1400" i="1" cap="none" spc="0" dirty="0">
                          <a:solidFill>
                            <a:schemeClr val="bg1"/>
                          </a:solidFill>
                          <a:effectLst/>
                          <a:latin typeface="inherit"/>
                        </a:rPr>
                        <a:t>Handbook</a:t>
                      </a: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inherit"/>
                        </a:rPr>
                        <a:t>,</a:t>
                      </a: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DuckSansProduct"/>
                        </a:rPr>
                        <a:t> </a:t>
                      </a: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inherit"/>
                        </a:rPr>
                        <a:t>9th</a:t>
                      </a: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DuckSansProduct"/>
                        </a:rPr>
                        <a:t> </a:t>
                      </a: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inherit"/>
                        </a:rPr>
                        <a:t>ed.,</a:t>
                      </a: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DuckSansProduct"/>
                        </a:rPr>
                        <a:t> </a:t>
                      </a: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inherit"/>
                        </a:rPr>
                        <a:t>McGraw‑Hill,</a:t>
                      </a: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DuckSansProduct"/>
                        </a:rPr>
                        <a:t> </a:t>
                      </a: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inherit"/>
                        </a:rPr>
                        <a:t>2022,</a:t>
                      </a: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DuckSansProduct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bg1"/>
                          </a:solidFill>
                          <a:effectLst/>
                          <a:latin typeface="inherit"/>
                        </a:rPr>
                        <a:t>capitolul</a:t>
                      </a: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DuckSansProduct"/>
                        </a:rPr>
                        <a:t> </a:t>
                      </a: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inherit"/>
                        </a:rPr>
                        <a:t>„Valves</a:t>
                      </a: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DuckSansProduct"/>
                        </a:rPr>
                        <a:t> </a:t>
                      </a: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inherit"/>
                        </a:rPr>
                        <a:t>and</a:t>
                      </a: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DuckSansProduct"/>
                        </a:rPr>
                        <a:t> </a:t>
                      </a: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inherit"/>
                        </a:rPr>
                        <a:t>Piping”</a:t>
                      </a:r>
                    </a:p>
                    <a:p>
                      <a:pPr algn="l" fontAlgn="t">
                        <a:buNone/>
                      </a:pPr>
                      <a:endParaRPr lang="en-US" sz="1400" cap="none" spc="0" dirty="0">
                        <a:solidFill>
                          <a:schemeClr val="bg1"/>
                        </a:solidFill>
                        <a:effectLst/>
                        <a:latin typeface="inherit"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1400" b="0" i="1" kern="12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 Standard 598 – Valve Inspection and Testing</a:t>
                      </a:r>
                      <a:r>
                        <a:rPr lang="en-US" sz="1400" b="0" i="0" kern="12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(American Petroleum Institute, 2021)</a:t>
                      </a:r>
                    </a:p>
                    <a:p>
                      <a:pPr algn="l" fontAlgn="t">
                        <a:buNone/>
                      </a:pPr>
                      <a:endParaRPr lang="en-US" sz="1400" b="0" i="0" kern="1200" cap="none" spc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1400" b="0" i="0" kern="12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J. M. Smith, “Check‑Valve Design for High‑Pressure Steam Systems,” </a:t>
                      </a:r>
                      <a:r>
                        <a:rPr lang="en-US" sz="1400" b="0" i="1" kern="12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Journal of Pressure Vessel Technology</a:t>
                      </a:r>
                      <a:r>
                        <a:rPr lang="en-US" sz="1400" b="0" i="0" kern="12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vol. 144, no. 3, 2023, pp. 031801‑1‑031801‑9.</a:t>
                      </a:r>
                    </a:p>
                    <a:p>
                      <a:pPr algn="l" fontAlgn="t">
                        <a:buNone/>
                      </a:pPr>
                      <a:endParaRPr lang="en-US" sz="1400" b="0" i="0" kern="1200" cap="none" spc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1400" b="0" i="0" kern="12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D. L. Brown &amp; A. K. Patel, </a:t>
                      </a:r>
                      <a:r>
                        <a:rPr lang="en-US" sz="1400" b="0" i="1" kern="12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Corrosion‑Resistant Materials for Process Valves</a:t>
                      </a:r>
                      <a:r>
                        <a:rPr lang="en-US" sz="1400" b="0" i="0" kern="12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Elsevier, 2024.</a:t>
                      </a:r>
                    </a:p>
                    <a:p>
                      <a:pPr algn="l" fontAlgn="t">
                        <a:buNone/>
                      </a:pPr>
                      <a:endParaRPr lang="en-US" sz="1400" b="0" i="0" kern="1200" cap="none" spc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1400" b="0" i="0" kern="12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Manufacturer datasheets – </a:t>
                      </a:r>
                      <a:r>
                        <a:rPr lang="en-US" sz="1400" b="1" i="0" kern="12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Swagelok</a:t>
                      </a:r>
                      <a:r>
                        <a:rPr lang="en-US" sz="1400" b="0" i="0" kern="12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(Model SS‑4‑C), </a:t>
                      </a:r>
                      <a:r>
                        <a:rPr lang="en-US" sz="1400" b="1" i="0" kern="12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Cameron</a:t>
                      </a:r>
                      <a:r>
                        <a:rPr lang="en-US" sz="1400" b="0" i="0" kern="12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(Model C‑100), </a:t>
                      </a:r>
                      <a:r>
                        <a:rPr lang="en-US" sz="1400" b="1" i="0" kern="12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Bonney Forge</a:t>
                      </a:r>
                      <a:r>
                        <a:rPr lang="en-US" sz="1400" b="0" i="0" kern="12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(Model BF‑C‑150) </a:t>
                      </a:r>
                      <a:endParaRPr lang="en-US" sz="1400" b="0" i="1" kern="1200" cap="none" spc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1400" b="0" i="1" kern="12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International Organization for Standardization (ISO) 5208 – Fluid Power Systems – Check Valves</a:t>
                      </a:r>
                      <a:r>
                        <a:rPr lang="en-US" sz="1400" b="0" i="0" kern="12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(2022)</a:t>
                      </a:r>
                    </a:p>
                    <a:p>
                      <a:pPr algn="l" fontAlgn="t">
                        <a:buNone/>
                      </a:pPr>
                      <a:endParaRPr lang="en-US" sz="1400" b="0" i="0" kern="1200" cap="none" spc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1400" b="0" i="0" kern="12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R. G. H. Lee, “Soft‑Close Check Valve for Noise‑Sensitive Applications,” </a:t>
                      </a:r>
                      <a:r>
                        <a:rPr lang="en-US" sz="1400" b="0" i="1" kern="12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Proceedings of the 2025 International Valve Conference</a:t>
                      </a:r>
                      <a:r>
                        <a:rPr lang="en-US" sz="1400" b="0" i="0" kern="12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pp. 112‑119.</a:t>
                      </a:r>
                      <a:endParaRPr lang="en-US" sz="1400" cap="none" spc="0" dirty="0">
                        <a:solidFill>
                          <a:schemeClr val="bg1"/>
                        </a:solidFill>
                        <a:effectLst/>
                        <a:latin typeface="DuckSansProduct"/>
                      </a:endParaRPr>
                    </a:p>
                  </a:txBody>
                  <a:tcPr marL="116528" marR="59758" marT="89637" marB="89637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459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05309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659</Words>
  <Application>Microsoft Office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DuckSansProduct</vt:lpstr>
      <vt:lpstr>inherit</vt:lpstr>
      <vt:lpstr>Office Theme</vt:lpstr>
      <vt:lpstr>Supape cu Sens Unic</vt:lpstr>
      <vt:lpstr>Ce Sunt Supapele cu Sens ?</vt:lpstr>
      <vt:lpstr>Care este Utilitatea Supapelor cu Sens ?</vt:lpstr>
      <vt:lpstr>Mod de funcționare </vt:lpstr>
      <vt:lpstr>Imagini din Corpul Uman si Scheme</vt:lpstr>
      <vt:lpstr>Imagini din Corpul Uman si Scheme</vt:lpstr>
      <vt:lpstr>Cum se alege supapa cu sens potrivită </vt:lpstr>
      <vt:lpstr>Cum se alege supapa cu sens potrivită </vt:lpstr>
      <vt:lpstr>Exemple de aplicații in Industrie</vt:lpstr>
      <vt:lpstr>Sursa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Dragoș-Bogdan PRODAN (154218)</dc:creator>
  <cp:lastModifiedBy>Dragoș-Bogdan PRODAN (154218)</cp:lastModifiedBy>
  <cp:revision>1</cp:revision>
  <dcterms:created xsi:type="dcterms:W3CDTF">2026-03-29T13:34:57Z</dcterms:created>
  <dcterms:modified xsi:type="dcterms:W3CDTF">2026-03-29T14:58:16Z</dcterms:modified>
</cp:coreProperties>
</file>